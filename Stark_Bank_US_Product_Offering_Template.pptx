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0" cy="2926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14"/>
                </a:solidFill>
                <a:latin typeface="Calibri"/>
              </a:rPr>
              <a:t>US Product Offerings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The Modern Bank,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built for 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D4AA"/>
                </a:solidFill>
                <a:latin typeface="Calibri"/>
              </a:rPr>
              <a:t>Modern Businesses.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627A"/>
                </a:solidFill>
                <a:latin typeface="Calibri"/>
              </a:rPr>
              <a:t>STARKBANK.COM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0" y="1828800"/>
            <a:ext cx="758952" cy="3200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About Stark Bank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Stark Bank is the bank that transforms
companies through technology, offering
innovative banking services for the B2B market.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931920"/>
            <a:ext cx="3474720" cy="82296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931920"/>
            <a:ext cx="54864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Business Accounts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3931920"/>
            <a:ext cx="3474720" cy="82296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3931920"/>
            <a:ext cx="54864" cy="822960"/>
          </a:xfrm>
          <a:prstGeom prst="rect">
            <a:avLst/>
          </a:prstGeom>
          <a:solidFill>
            <a:srgbClr val="7B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39319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Accounts Payables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3931920"/>
            <a:ext cx="3474720" cy="82296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9560" y="3931920"/>
            <a:ext cx="54864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39319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Certificates of Deposits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37760"/>
            <a:ext cx="3474720" cy="82296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937760"/>
            <a:ext cx="54864" cy="822960"/>
          </a:xfrm>
          <a:prstGeom prst="rect">
            <a:avLst/>
          </a:prstGeom>
          <a:solidFill>
            <a:srgbClr val="7B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Accounts Receivables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4937760"/>
            <a:ext cx="3474720" cy="82296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4937760"/>
            <a:ext cx="54864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49377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Corporate Credit Card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4937760"/>
            <a:ext cx="3474720" cy="82296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9560" y="4937760"/>
            <a:ext cx="54864" cy="822960"/>
          </a:xfrm>
          <a:prstGeom prst="rect">
            <a:avLst/>
          </a:prstGeom>
          <a:solidFill>
            <a:srgbClr val="7B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9377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Smart Lines of Credit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Total control
of your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8CC"/>
                </a:solidFill>
                <a:latin typeface="Calibri"/>
              </a:rPr>
              <a:t>Create multiple accounts &amp; user permissions.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6858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B0B8CC"/>
                </a:solidFill>
                <a:latin typeface="Calibri"/>
              </a:rPr>
              <a:t>• Sub-accounts to track spend across teams, clients, or projects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B0B8CC"/>
                </a:solidFill>
                <a:latin typeface="Calibri"/>
              </a:rPr>
              <a:t>• Create custom rules to approve payments based on your governance policy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B0B8CC"/>
                </a:solidFill>
                <a:latin typeface="Calibri"/>
              </a:rPr>
              <a:t>• Role-based access for teams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B0B8CC"/>
                </a:solidFill>
                <a:latin typeface="Calibri"/>
              </a:rPr>
              <a:t>• Full audit logs on every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1371600"/>
            <a:ext cx="3200400" cy="502920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32004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627A"/>
                </a:solidFill>
                <a:latin typeface="Calibri"/>
              </a:rPr>
              <a:t>[ Dashboard Preview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Receivables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Receivables
all in one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8CC"/>
                </a:solidFill>
                <a:latin typeface="Calibri"/>
              </a:rPr>
              <a:t>From sales to collections, every dollar flows
seamlessly — tracked, reconciled, and verified
the moment it moves.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B0B8CC"/>
                </a:solidFill>
                <a:latin typeface="Calibri"/>
              </a:rPr>
              <a:t>• ACH, Wire, and FedNow for instant or next-day settlement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B0B8CC"/>
                </a:solidFill>
                <a:latin typeface="Calibri"/>
              </a:rPr>
              <a:t>• Invoices with automatic reconciliation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B0B8CC"/>
                </a:solidFill>
                <a:latin typeface="Calibri"/>
              </a:rPr>
              <a:t>• Integrated card checkout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B0B8CC"/>
                </a:solidFill>
                <a:latin typeface="Calibri"/>
              </a:rPr>
              <a:t>• Custom payment links to collect instantly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1371600"/>
            <a:ext cx="3200400" cy="502920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32004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627A"/>
                </a:solidFill>
                <a:latin typeface="Calibri"/>
              </a:rPr>
              <a:t>[ Receivables Flow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Accounts Receivable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32004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Invoice Reconciliation.
Automated Matching.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B0B8CC"/>
                </a:solidFill>
                <a:latin typeface="Calibri"/>
              </a:rPr>
              <a:t>• Every incoming payment (ACH, FedNow, Wire) is automatically matched to the correct invoice using payment metadata and bank account identifiers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B0B8CC"/>
                </a:solidFill>
                <a:latin typeface="Calibri"/>
              </a:rPr>
              <a:t>• Eliminates manual searches through statements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B0B8CC"/>
                </a:solidFill>
                <a:latin typeface="Calibri"/>
              </a:rPr>
              <a:t>• Collection Dashboards to track overdue invoices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B0B8CC"/>
                </a:solidFill>
                <a:latin typeface="Calibri"/>
              </a:rPr>
              <a:t>• Track and find every payment on your statement using tags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1371600"/>
            <a:ext cx="3200400" cy="502920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32004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627A"/>
                </a:solidFill>
                <a:latin typeface="Calibri"/>
              </a:rPr>
              <a:t>[ Reconciliation View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Payments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Pay Anyone, Anytime.
All in one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CC"/>
                </a:solidFill>
                <a:latin typeface="Calibri"/>
              </a:rPr>
              <a:t>Whether it's payroll, vendor payments, taxes, utilities, or refunds,
every transaction is tracked, approved, and settled in real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B0B8CC"/>
                </a:solidFill>
                <a:latin typeface="Calibri"/>
              </a:rPr>
              <a:t>• ACH, Wire and FedNow for vendor payments and operating expenses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B0B8CC"/>
                </a:solidFill>
                <a:latin typeface="Calibri"/>
              </a:rPr>
              <a:t>• Bill pay for vendors and utilities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B0B8CC"/>
                </a:solidFill>
                <a:latin typeface="Calibri"/>
              </a:rPr>
              <a:t>• Bulk disbursements for payroll, contractors, or mass payouts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B0B8CC"/>
                </a:solidFill>
                <a:latin typeface="Calibri"/>
              </a:rPr>
              <a:t>• Review, approve and schedule payments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B0B8CC"/>
                </a:solidFill>
                <a:latin typeface="Calibri"/>
              </a:rPr>
              <a:t>• Real-time ledger to track all your transactions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1371600"/>
            <a:ext cx="3200400" cy="502920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32004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627A"/>
                </a:solidFill>
                <a:latin typeface="Calibri"/>
              </a:rPr>
              <a:t>[ Payment Dashboard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Payments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Tag it your
own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8CC"/>
                </a:solidFill>
                <a:latin typeface="Calibri"/>
              </a:rPr>
              <a:t>We've upgraded the way you find your payments.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CC"/>
                </a:solidFill>
                <a:latin typeface="Calibri"/>
              </a:rPr>
              <a:t>Add custom tags to every transaction — making it easy to organize,
search, and reconcile directly from your statement.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0"/>
            <a:ext cx="1371600" cy="365760"/>
          </a:xfrm>
          <a:prstGeom prst="rect">
            <a:avLst/>
          </a:prstGeom>
          <a:solidFill>
            <a:srgbClr val="121224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AA"/>
                </a:solidFill>
                <a:latin typeface="Calibri"/>
              </a:rPr>
              <a:t>#payroll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5029200"/>
            <a:ext cx="1371600" cy="365760"/>
          </a:xfrm>
          <a:prstGeom prst="rect">
            <a:avLst/>
          </a:prstGeom>
          <a:solidFill>
            <a:srgbClr val="121224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AA"/>
                </a:solidFill>
                <a:latin typeface="Calibri"/>
              </a:rPr>
              <a:t>#vendor-01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5029200"/>
            <a:ext cx="1371600" cy="365760"/>
          </a:xfrm>
          <a:prstGeom prst="rect">
            <a:avLst/>
          </a:prstGeom>
          <a:solidFill>
            <a:srgbClr val="121224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AA"/>
                </a:solidFill>
                <a:latin typeface="Calibri"/>
              </a:rPr>
              <a:t>#marketing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5029200"/>
            <a:ext cx="1371600" cy="365760"/>
          </a:xfrm>
          <a:prstGeom prst="rect">
            <a:avLst/>
          </a:prstGeom>
          <a:solidFill>
            <a:srgbClr val="121224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AA"/>
                </a:solidFill>
                <a:latin typeface="Calibri"/>
              </a:rPr>
              <a:t>#Q2-2025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5029200"/>
            <a:ext cx="1371600" cy="365760"/>
          </a:xfrm>
          <a:prstGeom prst="rect">
            <a:avLst/>
          </a:prstGeom>
          <a:solidFill>
            <a:srgbClr val="121224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AA"/>
                </a:solidFill>
                <a:latin typeface="Calibri"/>
              </a:rPr>
              <a:t>#utilities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Payments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Control over
your payments.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8CC"/>
                </a:solidFill>
                <a:latin typeface="Calibri"/>
              </a:rPr>
              <a:t>More autonomy and control for your company.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CC"/>
                </a:solidFill>
                <a:latin typeface="Calibri"/>
              </a:rPr>
              <a:t>Create flexible approval rules according to your business needs.
Choose individuals or groups responsible for approving payments
based on specific amount.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1371600"/>
            <a:ext cx="3200400" cy="502920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32004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627A"/>
                </a:solidFill>
                <a:latin typeface="Calibri"/>
              </a:rPr>
              <a:t>[ Approval Rules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Payments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MailBox
Bill Pay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  <a:latin typeface="Calibri"/>
              </a:rPr>
              <a:t>Making payments simpler and faster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C"/>
                </a:solidFill>
                <a:latin typeface="Calibri"/>
              </a:rPr>
              <a:t>Invoices and bills received by email are automatically turned into ready-to-approve payments inside the internet banking — no manual input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303520" cy="502920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303520" cy="54864"/>
          </a:xfrm>
          <a:prstGeom prst="rect">
            <a:avLst/>
          </a:prstGeom>
          <a:solidFill>
            <a:srgbClr val="7B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Vision Capture
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5EFF"/>
                </a:solidFill>
                <a:latin typeface="Calibri"/>
              </a:rPr>
              <a:t>Drag. Drop. Done.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C"/>
                </a:solidFill>
                <a:latin typeface="Calibri"/>
              </a:rPr>
              <a:t>Our smart banking tool reads PDFs or images, auto-fills payment details, and routes them for approval — no manual input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Payments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Web Banking
with Spreadsheets.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CC"/>
                </a:solidFill>
                <a:latin typeface="Calibri"/>
              </a:rPr>
              <a:t>Control your account inside Excel or Google Sheets.
Your accounting team deserves the convenience of banking
with sheets through an intuitive interface.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B0B8CC"/>
                </a:solidFill>
                <a:latin typeface="Calibri"/>
              </a:rPr>
              <a:t>• Get balance and statements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B0B8CC"/>
                </a:solidFill>
                <a:latin typeface="Calibri"/>
              </a:rPr>
              <a:t>• Request payments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B0B8CC"/>
                </a:solidFill>
                <a:latin typeface="Calibri"/>
              </a:rPr>
              <a:t>• Issue and manage invoices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B0B8CC"/>
                </a:solidFill>
                <a:latin typeface="Calibri"/>
              </a:rPr>
              <a:t>• Request physical credit card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B0B8CC"/>
                </a:solidFill>
                <a:latin typeface="Calibri"/>
              </a:rPr>
              <a:t>• Real-time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1371600"/>
            <a:ext cx="3200400" cy="502920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32004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A627A"/>
                </a:solidFill>
                <a:latin typeface="Calibri"/>
              </a:rPr>
              <a:t>[ Spreadsheet Integration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645920" cy="292608"/>
          </a:xfrm>
          <a:prstGeom prst="rect">
            <a:avLst/>
          </a:prstGeom>
          <a:solidFill>
            <a:srgbClr val="7B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14"/>
                </a:solidFill>
                <a:latin typeface="Calibri"/>
              </a:rPr>
              <a:t>Corporate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Corporate Cards that
think like a CFO.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0B8CC"/>
                </a:solidFill>
                <a:latin typeface="Calibri"/>
              </a:rPr>
              <a:t>Turn everyday spend into a business advantage.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0" y="1828800"/>
            <a:ext cx="758952" cy="3200400"/>
          </a:xfrm>
          <a:prstGeom prst="rect">
            <a:avLst/>
          </a:prstGeom>
          <a:solidFill>
            <a:srgbClr val="7B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5EFF"/>
                </a:solidFill>
                <a:latin typeface="Calibri"/>
              </a:rPr>
              <a:t>Corporate 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743200" cy="38100"/>
          </a:xfrm>
          <a:prstGeom prst="rect">
            <a:avLst/>
          </a:prstGeom>
          <a:solidFill>
            <a:srgbClr val="7B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Turn everyday spend into
a business advantage.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B0B8CC"/>
                </a:solidFill>
                <a:latin typeface="Calibri"/>
              </a:rPr>
              <a:t>• Create virtual cards per vendor, subscription, or employee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B0B8CC"/>
                </a:solidFill>
                <a:latin typeface="Calibri"/>
              </a:rPr>
              <a:t>• Set limits by amount, merchant, geography, time of day, and team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B0B8CC"/>
                </a:solidFill>
                <a:latin typeface="Calibri"/>
              </a:rPr>
              <a:t>• See spend in real time and flag anything off-policy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B0B8CC"/>
                </a:solidFill>
                <a:latin typeface="Calibri"/>
              </a:rPr>
              <a:t>• Categorize purchases to track expenses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B0B8CC"/>
                </a:solidFill>
                <a:latin typeface="Calibri"/>
              </a:rPr>
              <a:t>• Sync with your ERP and attach receipts for audits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B0B8CC"/>
                </a:solidFill>
                <a:latin typeface="Calibri"/>
              </a:rPr>
              <a:t>• Just-in-time funding and full ledger sync to reduce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1371600"/>
            <a:ext cx="3200400" cy="502920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32004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627A"/>
                </a:solidFill>
                <a:latin typeface="Calibri"/>
              </a:rPr>
              <a:t>[ Card Controls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Smart Lines of Credit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3657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Funded Your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0B8CC"/>
                </a:solidFill>
                <a:latin typeface="Calibri"/>
              </a:rPr>
              <a:t>Access revolving capital without giving up equity.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8CC"/>
                </a:solidFill>
                <a:latin typeface="Calibri"/>
              </a:rPr>
              <a:t>Skip the dilution of venture funding or the rigid terms of short-term loans —
Stark's credit lines grow with your cash flow, not your cap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4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Start fully secured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251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  <a:latin typeface="Calibri"/>
              </a:rPr>
              <a:t>Backed by your deposits and investments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800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Graduate to unsecured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120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  <a:latin typeface="Calibri"/>
              </a:rPr>
              <a:t>Based on real-time behavior and financial performance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669280"/>
            <a:ext cx="457200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669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4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Manage seamlessly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989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C"/>
                </a:solidFill>
                <a:latin typeface="Calibri"/>
              </a:rPr>
              <a:t>Through internet banking or our mobile 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5EFF"/>
                </a:solidFill>
                <a:latin typeface="Calibri"/>
              </a:rPr>
              <a:t>Corporate 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743200" cy="38100"/>
          </a:xfrm>
          <a:prstGeom prst="rect">
            <a:avLst/>
          </a:prstGeom>
          <a:solidFill>
            <a:srgbClr val="7B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Programmable spending
reduces waste.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8CC"/>
                </a:solidFill>
                <a:latin typeface="Calibri"/>
              </a:rPr>
              <a:t>Define exactly where, when, and how money flows.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5303520" cy="68580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64008" cy="685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Limit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C"/>
                </a:solidFill>
                <a:latin typeface="Calibri"/>
              </a:rPr>
              <a:t>Set spending caps by amount and time period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60520"/>
            <a:ext cx="5303520" cy="68580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160520"/>
            <a:ext cx="64008" cy="685800"/>
          </a:xfrm>
          <a:prstGeom prst="rect">
            <a:avLst/>
          </a:prstGeom>
          <a:solidFill>
            <a:srgbClr val="7B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0624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Date &amp;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3484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C"/>
                </a:solidFill>
                <a:latin typeface="Calibri"/>
              </a:rPr>
              <a:t>Control when the card can be used — by day and hour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37760"/>
            <a:ext cx="5303520" cy="68580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64008" cy="685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8348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1208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C"/>
                </a:solidFill>
                <a:latin typeface="Calibri"/>
              </a:rPr>
              <a:t>Define allowed merchant categories (MCC), physical or virtual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715000"/>
            <a:ext cx="5303520" cy="68580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715000"/>
            <a:ext cx="64008" cy="685800"/>
          </a:xfrm>
          <a:prstGeom prst="rect">
            <a:avLst/>
          </a:prstGeom>
          <a:solidFill>
            <a:srgbClr val="7B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7607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Country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8932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C"/>
                </a:solidFill>
                <a:latin typeface="Calibri"/>
              </a:rPr>
              <a:t>Restrict card usage to specific countries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1371600"/>
            <a:ext cx="3200400" cy="502920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32004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A627A"/>
                </a:solidFill>
                <a:latin typeface="Calibri"/>
              </a:rPr>
              <a:t>[ Spending Controls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5EFF"/>
                </a:solidFill>
                <a:latin typeface="Calibri"/>
              </a:rPr>
              <a:t>Corporate 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743200" cy="38100"/>
          </a:xfrm>
          <a:prstGeom prst="rect">
            <a:avLst/>
          </a:prstGeom>
          <a:solidFill>
            <a:srgbClr val="7B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More than a card.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3474720" cy="438912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47472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Corporate Card
Dashboards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C"/>
                </a:solidFill>
                <a:latin typeface="Calibri"/>
              </a:rPr>
              <a:t>Take full control of your company's spend. Rich dashboards to analyze transactions per cardholder, purchase category and cost center.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920240"/>
            <a:ext cx="3474720" cy="438912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920240"/>
            <a:ext cx="3474720" cy="54864"/>
          </a:xfrm>
          <a:prstGeom prst="rect">
            <a:avLst/>
          </a:prstGeom>
          <a:solidFill>
            <a:srgbClr val="7B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Tokenization
per Merchant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01752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C"/>
                </a:solidFill>
                <a:latin typeface="Calibri"/>
              </a:rPr>
              <a:t>Reduce fraud by linking a single virtual card to a specific merchant — unique tokenization per vendor.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1920240"/>
            <a:ext cx="3474720" cy="438912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920240"/>
            <a:ext cx="34747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2103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Digital Wallets &amp;
Receipts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301752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C"/>
                </a:solidFill>
                <a:latin typeface="Calibri"/>
              </a:rPr>
              <a:t>Add cards to Apple Pay or Google Pay. Attach receipts directly in the mobile app — no more chasing documents for audits.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